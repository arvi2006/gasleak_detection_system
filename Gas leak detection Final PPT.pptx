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55334" y="557276"/>
            <a:ext cx="7534275" cy="9483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7999" y="2955361"/>
            <a:ext cx="136994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Calibri"/>
                <a:cs typeface="Calibri"/>
              </a:rPr>
              <a:t>GAS LEAK DETECTION SYSTEM </a:t>
            </a:r>
            <a:endParaRPr spc="-1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52622" y="0"/>
            <a:ext cx="2635377" cy="20430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210" y="194503"/>
            <a:ext cx="1304607" cy="185350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20970" y="5398389"/>
            <a:ext cx="5403273" cy="2429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US" sz="3600" b="1" dirty="0" err="1">
                <a:latin typeface="Trebuchet MS"/>
                <a:cs typeface="Trebuchet MS"/>
              </a:rPr>
              <a:t>Ammirthakadeswar</a:t>
            </a:r>
            <a:r>
              <a:rPr lang="en-US" sz="3600" b="1" dirty="0">
                <a:latin typeface="Trebuchet MS"/>
                <a:cs typeface="Trebuchet MS"/>
              </a:rPr>
              <a:t> V</a:t>
            </a: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US" sz="3600" b="1" dirty="0">
                <a:latin typeface="Trebuchet MS"/>
                <a:cs typeface="Trebuchet MS"/>
              </a:rPr>
              <a:t>Arvind M</a:t>
            </a:r>
          </a:p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lang="en-US" sz="3600" b="1" dirty="0" err="1">
                <a:latin typeface="Trebuchet MS"/>
                <a:cs typeface="Trebuchet MS"/>
              </a:rPr>
              <a:t>Ramanuja</a:t>
            </a:r>
            <a:r>
              <a:rPr lang="en-US" sz="3600" b="1" dirty="0">
                <a:latin typeface="Trebuchet MS"/>
                <a:cs typeface="Trebuchet MS"/>
              </a:rPr>
              <a:t> </a:t>
            </a:r>
            <a:r>
              <a:rPr lang="en-US" sz="3600" b="1" dirty="0" err="1">
                <a:latin typeface="Trebuchet MS"/>
                <a:cs typeface="Trebuchet MS"/>
              </a:rPr>
              <a:t>Nambi</a:t>
            </a:r>
            <a:r>
              <a:rPr lang="en-US" sz="3600" b="1" dirty="0">
                <a:latin typeface="Trebuchet MS"/>
                <a:cs typeface="Trebuchet MS"/>
              </a:rPr>
              <a:t> K 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22792" y="5286372"/>
            <a:ext cx="2751912" cy="2541721"/>
          </a:xfrm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2260"/>
              </a:spcBef>
            </a:pPr>
            <a:r>
              <a:rPr lang="en-US" sz="3600" b="1" spc="-70" dirty="0">
                <a:latin typeface="Trebuchet MS"/>
                <a:cs typeface="Trebuchet MS"/>
              </a:rPr>
              <a:t>23BEC011</a:t>
            </a:r>
          </a:p>
          <a:p>
            <a:pPr marL="57150">
              <a:lnSpc>
                <a:spcPct val="100000"/>
              </a:lnSpc>
              <a:spcBef>
                <a:spcPts val="2260"/>
              </a:spcBef>
            </a:pPr>
            <a:r>
              <a:rPr lang="en-US" sz="3600" b="1" spc="-70" dirty="0">
                <a:latin typeface="Trebuchet MS"/>
                <a:cs typeface="Trebuchet MS"/>
              </a:rPr>
              <a:t>23BEC021</a:t>
            </a:r>
          </a:p>
          <a:p>
            <a:pPr marL="57150">
              <a:lnSpc>
                <a:spcPct val="100000"/>
              </a:lnSpc>
              <a:spcBef>
                <a:spcPts val="2260"/>
              </a:spcBef>
            </a:pPr>
            <a:r>
              <a:rPr lang="en-US" sz="3600" b="1" spc="-70" dirty="0">
                <a:latin typeface="Trebuchet MS"/>
                <a:cs typeface="Trebuchet MS"/>
              </a:rPr>
              <a:t>23BEC141</a:t>
            </a:r>
            <a:endParaRPr sz="3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7795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OBJECTIVE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343" y="181928"/>
            <a:ext cx="1221009" cy="17336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05000" y="1521561"/>
            <a:ext cx="15176500" cy="8543364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2020"/>
              </a:spcBef>
              <a:buAutoNum type="arabicPeriod"/>
              <a:tabLst>
                <a:tab pos="527050" algn="l"/>
              </a:tabLst>
            </a:pPr>
            <a:r>
              <a:rPr lang="en-US" sz="3200" dirty="0">
                <a:latin typeface="Tahoma"/>
                <a:cs typeface="Tahoma"/>
              </a:rPr>
              <a:t>Detect the presence of hazardous gases (e.g., LPG, Methane, CO).
Provide early warning using buzzer
Display gas concentration level on LCD/serial monitor.
Send alert notification (IoT based/Node-RED).
Ensure low-cost, reliable, and real-time monitoring.</a:t>
            </a:r>
          </a:p>
          <a:p>
            <a:pPr marL="5799455">
              <a:lnSpc>
                <a:spcPct val="100000"/>
              </a:lnSpc>
              <a:spcBef>
                <a:spcPts val="2555"/>
              </a:spcBef>
            </a:pPr>
            <a:r>
              <a:rPr sz="5000" b="1" spc="-130" dirty="0">
                <a:latin typeface="Trebuchet MS"/>
                <a:cs typeface="Trebuchet MS"/>
              </a:rPr>
              <a:t>LITERATURE</a:t>
            </a:r>
            <a:r>
              <a:rPr sz="5000" b="1" spc="-445" dirty="0">
                <a:latin typeface="Trebuchet MS"/>
                <a:cs typeface="Trebuchet MS"/>
              </a:rPr>
              <a:t> </a:t>
            </a:r>
            <a:r>
              <a:rPr sz="5000" b="1" spc="45" dirty="0">
                <a:latin typeface="Trebuchet MS"/>
                <a:cs typeface="Trebuchet MS"/>
              </a:rPr>
              <a:t>SURVEY</a:t>
            </a:r>
            <a:endParaRPr sz="5000" dirty="0">
              <a:latin typeface="Trebuchet MS"/>
              <a:cs typeface="Trebuchet MS"/>
            </a:endParaRPr>
          </a:p>
          <a:p>
            <a:pPr marL="526415" indent="-513715">
              <a:lnSpc>
                <a:spcPct val="100000"/>
              </a:lnSpc>
              <a:spcBef>
                <a:spcPts val="2365"/>
              </a:spcBef>
              <a:buAutoNum type="arabicPeriod"/>
              <a:tabLst>
                <a:tab pos="526415" algn="l"/>
              </a:tabLst>
            </a:pPr>
            <a:r>
              <a:rPr lang="en-US" sz="3200" b="1" spc="-10" dirty="0">
                <a:latin typeface="Tahoma"/>
                <a:cs typeface="Tahoma"/>
              </a:rPr>
              <a:t>Traditional systems: </a:t>
            </a:r>
            <a:r>
              <a:rPr lang="en-US" sz="3200" spc="-10" dirty="0">
                <a:latin typeface="Tahoma"/>
                <a:cs typeface="Tahoma"/>
              </a:rPr>
              <a:t>Basic gas alarms without digital monitoring.
</a:t>
            </a:r>
            <a:r>
              <a:rPr lang="en-US" sz="3200" b="1" spc="-10" dirty="0">
                <a:latin typeface="Tahoma"/>
                <a:cs typeface="Tahoma"/>
              </a:rPr>
              <a:t>Modern systems: </a:t>
            </a:r>
            <a:r>
              <a:rPr lang="en-US" sz="3200" spc="-10" dirty="0" err="1">
                <a:latin typeface="Tahoma"/>
                <a:cs typeface="Tahoma"/>
              </a:rPr>
              <a:t>IoT</a:t>
            </a:r>
            <a:r>
              <a:rPr lang="en-US" sz="3200" spc="-10" dirty="0">
                <a:latin typeface="Tahoma"/>
                <a:cs typeface="Tahoma"/>
              </a:rPr>
              <a:t>-enabled sensors for remote detection.
</a:t>
            </a:r>
            <a:r>
              <a:rPr lang="en-US" sz="3200" b="1" spc="-10" dirty="0">
                <a:latin typeface="Tahoma"/>
                <a:cs typeface="Tahoma"/>
              </a:rPr>
              <a:t>Widely used sensors: </a:t>
            </a:r>
            <a:r>
              <a:rPr lang="en-US" sz="3200" spc="-10" dirty="0">
                <a:latin typeface="Tahoma"/>
                <a:cs typeface="Tahoma"/>
              </a:rPr>
              <a:t>MQ-series (MQ-2, MQ-6, MQ-7, etc.).</a:t>
            </a:r>
          </a:p>
          <a:p>
            <a:pPr marL="526415" indent="-513715">
              <a:lnSpc>
                <a:spcPct val="100000"/>
              </a:lnSpc>
              <a:spcBef>
                <a:spcPts val="2365"/>
              </a:spcBef>
              <a:buAutoNum type="arabicPeriod"/>
              <a:tabLst>
                <a:tab pos="526415" algn="l"/>
              </a:tabLst>
            </a:pPr>
            <a:r>
              <a:rPr lang="en-US" sz="3200" b="1" dirty="0">
                <a:latin typeface="Tahoma"/>
                <a:cs typeface="Tahoma"/>
              </a:rPr>
              <a:t>Gap: </a:t>
            </a:r>
            <a:r>
              <a:rPr lang="en-US" sz="3200" dirty="0">
                <a:latin typeface="Tahoma"/>
                <a:cs typeface="Tahoma"/>
              </a:rPr>
              <a:t>Many existing systems lack portability, cost-effectiveness, or </a:t>
            </a:r>
            <a:r>
              <a:rPr lang="en-US" sz="3200" dirty="0" err="1">
                <a:latin typeface="Tahoma"/>
                <a:cs typeface="Tahoma"/>
              </a:rPr>
              <a:t>IoT</a:t>
            </a:r>
            <a:r>
              <a:rPr lang="en-US" sz="3200" dirty="0">
                <a:latin typeface="Tahoma"/>
                <a:cs typeface="Tahoma"/>
              </a:rPr>
              <a:t> integration.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IMPLEMENTATION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343" y="181928"/>
            <a:ext cx="1221009" cy="17336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82428" y="2805123"/>
            <a:ext cx="17450435" cy="40236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8255">
              <a:lnSpc>
                <a:spcPct val="150100"/>
              </a:lnSpc>
              <a:spcBef>
                <a:spcPts val="95"/>
              </a:spcBef>
              <a:tabLst>
                <a:tab pos="527685" algn="l"/>
                <a:tab pos="1786255" algn="l"/>
                <a:tab pos="2733040" algn="l"/>
                <a:tab pos="3437254" algn="l"/>
                <a:tab pos="4142740" algn="l"/>
                <a:tab pos="5480685" algn="l"/>
                <a:tab pos="6944359" algn="l"/>
                <a:tab pos="7249159" algn="l"/>
                <a:tab pos="8445500" algn="l"/>
                <a:tab pos="9239250" algn="l"/>
                <a:tab pos="9867265" algn="l"/>
                <a:tab pos="11288395" algn="l"/>
                <a:tab pos="13723619" algn="l"/>
                <a:tab pos="14165580" algn="l"/>
                <a:tab pos="15084425" algn="l"/>
                <a:tab pos="15794990" algn="l"/>
              </a:tabLst>
            </a:pPr>
            <a:r>
              <a:rPr lang="en-US" sz="2900" dirty="0">
                <a:latin typeface="Calibri"/>
                <a:cs typeface="Calibri"/>
              </a:rPr>
              <a:t>1. </a:t>
            </a:r>
            <a:r>
              <a:rPr lang="en-US" sz="2900" b="1" dirty="0">
                <a:latin typeface="Calibri"/>
                <a:cs typeface="Calibri"/>
              </a:rPr>
              <a:t>Sensor Module</a:t>
            </a:r>
            <a:r>
              <a:rPr lang="en-US" sz="2900" dirty="0">
                <a:latin typeface="Calibri"/>
                <a:cs typeface="Calibri"/>
              </a:rPr>
              <a:t> – Use MQ-2 sensor for gas detection.
2. </a:t>
            </a:r>
            <a:r>
              <a:rPr lang="en-US" sz="2900" b="1" dirty="0">
                <a:latin typeface="Calibri"/>
                <a:cs typeface="Calibri"/>
              </a:rPr>
              <a:t>Microcontroller </a:t>
            </a:r>
            <a:r>
              <a:rPr lang="en-US" sz="2900" dirty="0">
                <a:latin typeface="Calibri"/>
                <a:cs typeface="Calibri"/>
              </a:rPr>
              <a:t>– ESP32 for processing.
3. </a:t>
            </a:r>
            <a:r>
              <a:rPr lang="en-US" sz="2900" b="1" dirty="0">
                <a:latin typeface="Calibri"/>
                <a:cs typeface="Calibri"/>
              </a:rPr>
              <a:t>Alert System </a:t>
            </a:r>
            <a:r>
              <a:rPr lang="en-US" sz="2900" dirty="0">
                <a:latin typeface="Calibri"/>
                <a:cs typeface="Calibri"/>
              </a:rPr>
              <a:t>– Buzzer for immediate alerts.
4. </a:t>
            </a:r>
            <a:r>
              <a:rPr lang="en-US" sz="2900" b="1" dirty="0">
                <a:latin typeface="Calibri"/>
                <a:cs typeface="Calibri"/>
              </a:rPr>
              <a:t>Display </a:t>
            </a:r>
            <a:r>
              <a:rPr lang="en-US" sz="2900" dirty="0">
                <a:latin typeface="Calibri"/>
                <a:cs typeface="Calibri"/>
              </a:rPr>
              <a:t>– LCD or serial monitor to show gas levels.
5.</a:t>
            </a:r>
            <a:r>
              <a:rPr lang="en-US" sz="2900" b="1" dirty="0">
                <a:latin typeface="Calibri"/>
                <a:cs typeface="Calibri"/>
              </a:rPr>
              <a:t> Communication</a:t>
            </a:r>
            <a:r>
              <a:rPr lang="en-US" sz="2900" dirty="0">
                <a:latin typeface="Calibri"/>
                <a:cs typeface="Calibri"/>
              </a:rPr>
              <a:t> –Node-RED for remote SMS/IoT alerts.
6. </a:t>
            </a:r>
            <a:r>
              <a:rPr lang="en-US" sz="2900" b="1" dirty="0">
                <a:latin typeface="Calibri"/>
                <a:cs typeface="Calibri"/>
              </a:rPr>
              <a:t>Testing </a:t>
            </a:r>
            <a:r>
              <a:rPr lang="en-US" sz="2900" dirty="0">
                <a:latin typeface="Calibri"/>
                <a:cs typeface="Calibri"/>
              </a:rPr>
              <a:t>– Simulate sensor response with small controlled gas exposure.</a:t>
            </a:r>
            <a:endParaRPr sz="2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pc="100" dirty="0"/>
              <a:t>CIRCUIT</a:t>
            </a:r>
            <a:r>
              <a:rPr spc="-595" dirty="0"/>
              <a:t> </a:t>
            </a:r>
            <a:r>
              <a:rPr spc="120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343" y="181928"/>
            <a:ext cx="1221009" cy="1733672"/>
          </a:xfrm>
          <a:prstGeom prst="rect">
            <a:avLst/>
          </a:prstGeom>
        </p:spPr>
      </p:pic>
      <p:pic>
        <p:nvPicPr>
          <p:cNvPr id="6" name="Picture 5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BB84CE17-4685-BCE9-4702-455AD108A7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1614424"/>
            <a:ext cx="10820400" cy="811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BLOCK</a:t>
            </a:r>
            <a:r>
              <a:rPr spc="-575" dirty="0"/>
              <a:t> </a:t>
            </a:r>
            <a:r>
              <a:rPr spc="120" dirty="0"/>
              <a:t>DIAGRAM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343" y="181928"/>
            <a:ext cx="1221009" cy="1733672"/>
          </a:xfrm>
          <a:prstGeom prst="rect">
            <a:avLst/>
          </a:prstGeom>
        </p:spPr>
      </p:pic>
      <p:pic>
        <p:nvPicPr>
          <p:cNvPr id="6" name="Picture 5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FE39BE46-7EA5-4C85-BD00-F23522072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5017"/>
            <a:ext cx="18288000" cy="53369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5" dirty="0"/>
              <a:t>ESP-32 PROGRAM</a:t>
            </a:r>
            <a:endParaRPr spc="-5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343" y="181928"/>
            <a:ext cx="1221009" cy="17336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DFC8E3-D6FA-AEB1-4D2B-2B3D4DD94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109" y="1915600"/>
            <a:ext cx="5715000" cy="78793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4A821B-58FE-7C02-8697-280D13781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552700"/>
            <a:ext cx="7136887" cy="5305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5525469-3DDF-5267-8D6A-2BB30F36A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FE87B47-A4AD-1378-FCF3-A0B82220ED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55334" y="557276"/>
            <a:ext cx="7534275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5" dirty="0"/>
              <a:t>NODE-RED JS Message Function</a:t>
            </a:r>
            <a:endParaRPr spc="-55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3AD4AE4-8BAC-5097-B306-4C67DC4E78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343" y="181928"/>
            <a:ext cx="1221009" cy="17336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BC625E-0FA8-626F-CE13-E2E9B4E1A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713" y="3467101"/>
            <a:ext cx="8775606" cy="226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801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3858" y="4161535"/>
            <a:ext cx="454787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55" dirty="0"/>
              <a:t>THANK</a:t>
            </a:r>
            <a:r>
              <a:rPr sz="6600" spc="-610" dirty="0"/>
              <a:t> </a:t>
            </a:r>
            <a:r>
              <a:rPr sz="6600" spc="-25" dirty="0"/>
              <a:t>YOU</a:t>
            </a:r>
            <a:endParaRPr sz="6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206</Words>
  <Application>Microsoft Office PowerPoint</Application>
  <PresentationFormat>Custom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Tahoma</vt:lpstr>
      <vt:lpstr>Trebuchet MS</vt:lpstr>
      <vt:lpstr>Office Theme</vt:lpstr>
      <vt:lpstr>GAS LEAK DETECTION SYSTEM </vt:lpstr>
      <vt:lpstr>OBJECTIVE</vt:lpstr>
      <vt:lpstr>IMPLEMENTATION</vt:lpstr>
      <vt:lpstr>CIRCUIT DIAGRAM</vt:lpstr>
      <vt:lpstr>BLOCK DIAGRAM</vt:lpstr>
      <vt:lpstr>ESP-32 PROGRAM</vt:lpstr>
      <vt:lpstr>NODE-RED JS Message Function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FIRST-REVIEW TAMPLATE</dc:title>
  <dc:creator>Sanjay S</dc:creator>
  <cp:lastModifiedBy>Arvind M</cp:lastModifiedBy>
  <cp:revision>5</cp:revision>
  <dcterms:created xsi:type="dcterms:W3CDTF">2025-09-23T11:20:12Z</dcterms:created>
  <dcterms:modified xsi:type="dcterms:W3CDTF">2025-10-28T16:51:33Z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2025-09-23T00:00:00Z</vt:filetime>
  </property>
  <property fmtid="{D5CDD505-2E9C-101B-9397-08002B2CF9AE}" pid="5" name="Producer">
    <vt:lpwstr>Microsoft® PowerPoint® for Microsoft 365</vt:lpwstr>
  </property>
</Properties>
</file>